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9144000" cy="9144000"/>
          </a:xfrm>
          <a:prstGeom prst="ellipse">
            <a:avLst/>
          </a:prstGeom>
          <a:solidFill>
            <a:srgbClr val="58A6FF">
              <a:alpha val="15000"/>
            </a:srgbClr>
          </a:solidFill>
          <a:ln w="12700">
            <a:solidFill>
              <a:srgbClr val="58A6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9144000" cy="9144000"/>
          </a:xfrm>
          <a:prstGeom prst="ellipse">
            <a:avLst/>
          </a:prstGeom>
          <a:solidFill>
            <a:srgbClr val="3FB950">
              <a:alpha val="10000"/>
            </a:srgbClr>
          </a:solidFill>
          <a:ln w="12700">
            <a:solidFill>
              <a:srgbClr val="3FB95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PITCH  ·  CONFIDENTIAL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spc="-200" kern="0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Gentle Reminder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clinical-grade dementia care platform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patented innovations  ·  $186B market  ·  FDA SaMD pathway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5029200"/>
            <a:ext cx="10515600" cy="1280160"/>
          </a:xfrm>
          <a:prstGeom prst="rect">
            <a:avLst/>
          </a:prstGeom>
          <a:solidFill>
            <a:srgbClr val="161B22">
              <a:alpha val="80000"/>
            </a:srgbClr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51206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 Mack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CEO/COO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mack@matrixadvancedsolutions.com  ·  https://gentle-reminder-pitch.vercel.app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16  ·  GENTLE REMINDER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Dementia care is broken.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029200" cy="3657600"/>
          </a:xfrm>
          <a:prstGeom prst="rect">
            <a:avLst/>
          </a:prstGeom>
          <a:solidFill>
            <a:srgbClr val="0D1117"/>
          </a:solidFill>
          <a:ln w="25400">
            <a:solidFill>
              <a:srgbClr val="F851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56032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spc="-300" kern="0" dirty="0">
                <a:solidFill>
                  <a:srgbClr val="F8514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55M+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with dementia globally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466344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 new cases / year  ·  $1.3T annual cost  ·  zero curative therapy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0" y="22860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compounds: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0" y="2743200"/>
            <a:ext cx="5760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cognitive tests (MMSE, MoCA, ADAS-Cog) produce pass/fail feedback that triggers documented anxiety, agitation, and session abandonment in dementia patients.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Caregivers lack real-time digital biomarkers for decline detection.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Clinicians lack longitudinal decline-tracking tools that scale.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trials (Leqembi, Kisunla) lack scalable digital endpoints for anti-amyloid therapy.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dementia-safe alternative exists. Digital competitors replicate the pass/fail paradigm.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16  ·  GENTLE REMINDER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from the algorithm up — for dementia.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749040" cy="4114800"/>
          </a:xfrm>
          <a:prstGeom prst="rect">
            <a:avLst/>
          </a:prstGeom>
          <a:solidFill>
            <a:srgbClr val="0D1117"/>
          </a:solidFill>
          <a:ln w="25400">
            <a:solidFill>
              <a:srgbClr val="58A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03120"/>
            <a:ext cx="3749040" cy="914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4688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THREE-STATE FEEDBACK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CELEBRATED / GUIDED / SUPPORTED — never negative. Architecturally guarantees no failure reaches the patient.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16552" y="2103120"/>
            <a:ext cx="3749040" cy="4114800"/>
          </a:xfrm>
          <a:prstGeom prst="rect">
            <a:avLst/>
          </a:prstGeom>
          <a:solidFill>
            <a:srgbClr val="0D1117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16552" y="2103120"/>
            <a:ext cx="3749040" cy="9144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0872" y="24688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BIOMARKERS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90872" y="320040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hesitation, response time, sleep irregularity, routine disruption, medication adherence. Composite score for decline tracking.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84464" y="2103120"/>
            <a:ext cx="3749040" cy="4114800"/>
          </a:xfrm>
          <a:prstGeom prst="rect">
            <a:avLst/>
          </a:prstGeom>
          <a:solidFill>
            <a:srgbClr val="0D1117"/>
          </a:solidFill>
          <a:ln w="25400">
            <a:solidFill>
              <a:srgbClr val="A371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84464" y="2103120"/>
            <a:ext cx="3749040" cy="91440"/>
          </a:xfrm>
          <a:prstGeom prst="rect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58784" y="24688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A37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SaMD READY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58784" y="320040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(IEC 62304, ISO 14971, QMS, CFR Part 11). 510(k) predicate identified. Medicare reimbursement pathway.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16  ·  GENTLE REMINDER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Production-ready platform.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65760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2402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53K+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production code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416552" y="2103120"/>
            <a:ext cx="365760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9432" y="22402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99432" y="3017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applications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84464" y="2103120"/>
            <a:ext cx="365760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67344" y="22402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30+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467344" y="3017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365760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8862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30+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731520" y="46634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models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16552" y="3749040"/>
            <a:ext cx="365760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9432" y="38862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4599432" y="46634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(RTL-aware)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84464" y="3749040"/>
            <a:ext cx="365760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67344" y="38862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FHIR R4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8467344" y="46634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integration ready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56692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apps: iPad patient app, caregiver dashboard, clinician dashboard, admin portal, family dashboard. Apple Watch with HealthKit. FHIR R4. Multi-tenant. 10 languages with RTL. 95+ test files. Full FDA SaMD documentation.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16  ·  GENTLE REMINDER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$186B global market.  $450M 5-year SOM.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749040" cy="4114800"/>
          </a:xfrm>
          <a:prstGeom prst="rect">
            <a:avLst/>
          </a:prstGeom>
          <a:solidFill>
            <a:srgbClr val="0D1117"/>
          </a:solidFill>
          <a:ln w="25400">
            <a:solidFill>
              <a:srgbClr val="58A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46888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0" b="1" spc="-300" kern="0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$186B</a:t>
            </a:r>
            <a:endParaRPr lang="en-US" sz="7000" dirty="0"/>
          </a:p>
        </p:txBody>
      </p:sp>
      <p:sp>
        <p:nvSpPr>
          <p:cNvPr id="6" name="Text 4"/>
          <p:cNvSpPr/>
          <p:nvPr/>
        </p:nvSpPr>
        <p:spPr>
          <a:xfrm>
            <a:off x="822960" y="39319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448056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dementia care market (Alzheimer's Disease International, 2023). 55M+ patients, $1.3T in total costs.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16552" y="2194560"/>
            <a:ext cx="3749040" cy="4114800"/>
          </a:xfrm>
          <a:prstGeom prst="rect">
            <a:avLst/>
          </a:prstGeom>
          <a:solidFill>
            <a:srgbClr val="0D1117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90872" y="246888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0" b="1" spc="-300" kern="0" dirty="0">
                <a:solidFill>
                  <a:srgbClr val="3FB9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$23B</a:t>
            </a:r>
            <a:endParaRPr lang="en-US" sz="7000" dirty="0"/>
          </a:p>
        </p:txBody>
      </p:sp>
      <p:sp>
        <p:nvSpPr>
          <p:cNvPr id="10" name="Text 8"/>
          <p:cNvSpPr/>
          <p:nvPr/>
        </p:nvSpPr>
        <p:spPr>
          <a:xfrm>
            <a:off x="4690872" y="39319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90872" y="448056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digital therapeutics + digital health addressable segment. 26% CAGR.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84464" y="2194560"/>
            <a:ext cx="3749040" cy="4114800"/>
          </a:xfrm>
          <a:prstGeom prst="rect">
            <a:avLst/>
          </a:prstGeom>
          <a:solidFill>
            <a:srgbClr val="0D1117"/>
          </a:solidFill>
          <a:ln w="25400">
            <a:solidFill>
              <a:srgbClr val="D299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58784" y="246888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0" b="1" spc="-300" kern="0" dirty="0">
                <a:solidFill>
                  <a:srgbClr val="D299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$450M</a:t>
            </a:r>
            <a:endParaRPr lang="en-US" sz="7000" dirty="0"/>
          </a:p>
        </p:txBody>
      </p:sp>
      <p:sp>
        <p:nvSpPr>
          <p:cNvPr id="14" name="Text 12"/>
          <p:cNvSpPr/>
          <p:nvPr/>
        </p:nvSpPr>
        <p:spPr>
          <a:xfrm>
            <a:off x="8558784" y="39319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58784" y="448056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memory care facilities + DTx prescription + MA contracts, 5-year obtainable.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16  ·  GENTLE REMINDER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37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MOAT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23 patent-pending innovations.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1783080" cy="1828800"/>
          </a:xfrm>
          <a:prstGeom prst="rect">
            <a:avLst/>
          </a:prstGeom>
          <a:solidFill>
            <a:srgbClr val="0D1117"/>
          </a:solidFill>
          <a:ln w="25400">
            <a:solidFill>
              <a:srgbClr val="F851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514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2194560"/>
            <a:ext cx="1783080" cy="1828800"/>
          </a:xfrm>
          <a:prstGeom prst="rect">
            <a:avLst/>
          </a:prstGeom>
          <a:solidFill>
            <a:srgbClr val="0D1117"/>
          </a:solidFill>
          <a:ln w="25400">
            <a:solidFill>
              <a:srgbClr val="D299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228600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D299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2514600" y="32918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14600" y="36576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claims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80560" y="2194560"/>
            <a:ext cx="1783080" cy="1828800"/>
          </a:xfrm>
          <a:prstGeom prst="rect">
            <a:avLst/>
          </a:prstGeom>
          <a:solidFill>
            <a:srgbClr val="0D1117"/>
          </a:solidFill>
          <a:ln w="254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228600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4480560" y="32918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80560" y="36576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System-level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83680" y="2194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 HIGHLIGHTS: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0" y="2651760"/>
            <a:ext cx="5029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GR-01: Three-state positive-only feedback — the only architectural dementia-safe scoring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GR-02: Asymmetric adaptive difficulty (70-85% comfort zone)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GR-03: Dementia-adapted SM-2 spaced repetition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GR-04: Multimodal cognitive state classifier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GR-05: Dementia-specific speech emotion detection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754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valuation: $22M–$57M (sum-of-parts, pre-seed)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5212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USPTO provisionals in flight · 12-month priority window · Trade-secret parameters retained separately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16  ·  GENTLE REMINDER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PATHWAY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FDA SaMD Class II via 510(k).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B949E"/>
                </a:solidFill>
              </a:rPr>
              <a:t>DOCUMENTATION STATUS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5669280" cy="274320"/>
          </a:xfrm>
          <a:prstGeom prst="rect">
            <a:avLst/>
          </a:prstGeom>
          <a:solidFill>
            <a:srgbClr val="0D1117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606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62304 Software Lifecycle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663440" y="26060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907792"/>
            <a:ext cx="5669280" cy="274320"/>
          </a:xfrm>
          <a:prstGeom prst="rect">
            <a:avLst/>
          </a:prstGeom>
          <a:solidFill>
            <a:srgbClr val="0A0E1A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9077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14971 Risk Management (FMEA)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63440" y="29077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209544"/>
            <a:ext cx="5669280" cy="274320"/>
          </a:xfrm>
          <a:prstGeom prst="rect">
            <a:avLst/>
          </a:prstGeom>
          <a:solidFill>
            <a:srgbClr val="0D1117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2095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13485 QMS Framework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63440" y="320954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511296"/>
            <a:ext cx="5669280" cy="274320"/>
          </a:xfrm>
          <a:prstGeom prst="rect">
            <a:avLst/>
          </a:prstGeom>
          <a:solidFill>
            <a:srgbClr val="0A0E1A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5112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CFR Part 11 Electronic Records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63440" y="351129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813048"/>
            <a:ext cx="5669280" cy="274320"/>
          </a:xfrm>
          <a:prstGeom prst="rect">
            <a:avLst/>
          </a:prstGeom>
          <a:solidFill>
            <a:srgbClr val="0D1117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8130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Cybersecurity Assessment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63440" y="381304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5669280" cy="274320"/>
          </a:xfrm>
          <a:prstGeom prst="rect">
            <a:avLst/>
          </a:prstGeom>
          <a:solidFill>
            <a:srgbClr val="0A0E1A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114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Transparency Module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63440" y="41148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4416552"/>
            <a:ext cx="5669280" cy="274320"/>
          </a:xfrm>
          <a:prstGeom prst="rect">
            <a:avLst/>
          </a:prstGeom>
          <a:solidFill>
            <a:srgbClr val="0D1117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4165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Validation Protocol (CVP-001)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63440" y="44165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4718304"/>
            <a:ext cx="5669280" cy="274320"/>
          </a:xfrm>
          <a:prstGeom prst="rect">
            <a:avLst/>
          </a:prstGeom>
          <a:solidFill>
            <a:srgbClr val="0A0E1A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71830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 Consent Template (ICF-001)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63440" y="471830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5020056"/>
            <a:ext cx="5669280" cy="274320"/>
          </a:xfrm>
          <a:prstGeom prst="rect">
            <a:avLst/>
          </a:prstGeom>
          <a:solidFill>
            <a:srgbClr val="0D1117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502005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Management Plan (DMP-001)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63440" y="502005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5321808"/>
            <a:ext cx="5669280" cy="274320"/>
          </a:xfrm>
          <a:prstGeom prst="rect">
            <a:avLst/>
          </a:prstGeom>
          <a:solidFill>
            <a:srgbClr val="0A0E1A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53218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Monitoring Plan (SMP-001)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663440" y="532180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5623560"/>
            <a:ext cx="5669280" cy="274320"/>
          </a:xfrm>
          <a:prstGeom prst="rect">
            <a:avLst/>
          </a:prstGeom>
          <a:solidFill>
            <a:srgbClr val="0D1117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5623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510(k) Predicate Analysis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663440" y="56235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K201738 Linus Health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766560" y="2194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B949E"/>
                </a:solidFill>
              </a:rPr>
              <a:t>PREDICATE PATH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766560" y="2651760"/>
            <a:ext cx="5029200" cy="914400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49440" y="274320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K201738 — Linus Health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Clock and Recall; cleared 2020. Substantial equivalence basis for our 510(k).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766560" y="3657600"/>
            <a:ext cx="5029200" cy="914400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49440" y="374904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K182554 — Cogstate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computerized cognitive assessment. Secondary predicate.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766560" y="475488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</a:t>
            </a:r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510(k) submission within 12 months of seed close.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Clearance timeline:</a:t>
            </a:r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12-18 months from submission (P50 ~15 months).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16  ·  GENTLE REMINDER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Multi-channel revenue. Defensible economics.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5486400" cy="1920240"/>
          </a:xfrm>
          <a:prstGeom prst="rect">
            <a:avLst/>
          </a:prstGeom>
          <a:solidFill>
            <a:srgbClr val="161B22"/>
          </a:solidFill>
          <a:ln w="25400">
            <a:solidFill>
              <a:srgbClr val="58A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3317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FACILITY SAAS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$6,000 / bed / year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30,000+ US memory care facilities. Patient app + caregiver dashboard + clinical reporting. Annual contracts with 5% escalation.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2194560"/>
            <a:ext cx="5486400" cy="1920240"/>
          </a:xfrm>
          <a:prstGeom prst="rect">
            <a:avLst/>
          </a:prstGeom>
          <a:solidFill>
            <a:srgbClr val="161B22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23317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B2B2C DTx (POST-510K)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269748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$180 / patient / month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400800" y="329184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Provider-prescribed DTx. CPT-code reimbursable. Medicare + Medicare Advantage coverage target.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5486400" cy="1920240"/>
          </a:xfrm>
          <a:prstGeom prst="rect">
            <a:avLst/>
          </a:prstGeom>
          <a:solidFill>
            <a:srgbClr val="161B22"/>
          </a:solidFill>
          <a:ln w="25400">
            <a:solidFill>
              <a:srgbClr val="D299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4348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 LICENSING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8006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$2M-$10M / deal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31520" y="539496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endpoint for anti-amyloid therapy trials (Biogen, Eisai, Lilly). Upfront + milestones + royalties.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4297680"/>
            <a:ext cx="5486400" cy="1920240"/>
          </a:xfrm>
          <a:prstGeom prst="rect">
            <a:avLst/>
          </a:prstGeom>
          <a:solidFill>
            <a:srgbClr val="161B22"/>
          </a:solidFill>
          <a:ln w="25400">
            <a:solidFill>
              <a:srgbClr val="A371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44348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37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PAYER VALUE-BASED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48006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Per-member outcomes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400800" y="539496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Advantage risk stratification. Cost-reduction sharing on early intervention.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16  ·  GENTLE REMINDER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Path to $85M ARR in Year 5.</a:t>
            </a:r>
            <a:endParaRPr lang="en-US" sz="4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109728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755648"/>
                <a:gridCol w="1755648"/>
                <a:gridCol w="1755648"/>
                <a:gridCol w="1755648"/>
                <a:gridCol w="175564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Facilities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8,800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22,400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46,400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b="1" dirty="0">
                          <a:solidFill>
                            <a:srgbClr val="3FB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b="1" dirty="0">
                          <a:solidFill>
                            <a:srgbClr val="3FB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$3.8M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b="1" dirty="0">
                          <a:solidFill>
                            <a:srgbClr val="3FB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b="1" dirty="0">
                          <a:solidFill>
                            <a:srgbClr val="3FB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$38M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b="1" dirty="0">
                          <a:solidFill>
                            <a:srgbClr val="3FB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$85M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029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Y3+ includes DTx prescription revenue (post-510k clearance).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Excludes potential $10M-$50M strategic pharma licensing deals.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16  ·  GENTLE REMINDER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LTV/CAC of 60×. Top-quartile.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74904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377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ACV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7432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$60,000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777240" y="3703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beds × $6K/year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16552" y="2194560"/>
            <a:ext cx="374904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45152" y="2377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(Facility)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45152" y="27432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$3,000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4645152" y="3703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sales + pilot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84464" y="2194560"/>
            <a:ext cx="374904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13064" y="2377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(Facility)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513064" y="27432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$180,000</a:t>
            </a:r>
            <a:endParaRPr lang="en-US" sz="5000" dirty="0"/>
          </a:p>
        </p:txBody>
      </p:sp>
      <p:sp>
        <p:nvSpPr>
          <p:cNvPr id="15" name="Text 13"/>
          <p:cNvSpPr/>
          <p:nvPr/>
        </p:nvSpPr>
        <p:spPr>
          <a:xfrm>
            <a:off x="8513064" y="3703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37.5-month lifetime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297680"/>
            <a:ext cx="374904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4805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/ CAC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48463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60×</a:t>
            </a:r>
            <a:endParaRPr lang="en-US" sz="5000" dirty="0"/>
          </a:p>
        </p:txBody>
      </p:sp>
      <p:sp>
        <p:nvSpPr>
          <p:cNvPr id="19" name="Text 17"/>
          <p:cNvSpPr/>
          <p:nvPr/>
        </p:nvSpPr>
        <p:spPr>
          <a:xfrm>
            <a:off x="777240" y="58064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Top-quartile SaaS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16552" y="4297680"/>
            <a:ext cx="374904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45152" y="44805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45152" y="48463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82%</a:t>
            </a:r>
            <a:endParaRPr lang="en-US" sz="5000" dirty="0"/>
          </a:p>
        </p:txBody>
      </p:sp>
      <p:sp>
        <p:nvSpPr>
          <p:cNvPr id="23" name="Text 21"/>
          <p:cNvSpPr/>
          <p:nvPr/>
        </p:nvSpPr>
        <p:spPr>
          <a:xfrm>
            <a:off x="4645152" y="58064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SaaS + support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84464" y="4297680"/>
            <a:ext cx="374904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13064" y="44805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Churn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513064" y="48463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8%</a:t>
            </a:r>
            <a:endParaRPr lang="en-US" sz="5000" dirty="0"/>
          </a:p>
        </p:txBody>
      </p:sp>
      <p:sp>
        <p:nvSpPr>
          <p:cNvPr id="27" name="Text 25"/>
          <p:cNvSpPr/>
          <p:nvPr/>
        </p:nvSpPr>
        <p:spPr>
          <a:xfrm>
            <a:off x="8513064" y="58064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10-15% benchmark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  ·  GENTLE REMINDER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Nobody else has built this for dementia.</a:t>
            </a:r>
            <a:endParaRPr lang="en-US" sz="4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they lose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Linus Health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cognitive assessment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51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Pass/fail delivery; not dementia-safe UX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Cogstate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Computerized cognitive testing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51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Trial-only; no caregiver platform or biomarkers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Neurotrack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Eye-tracking cognitive assessment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51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Narrow modality (eye-tracking only)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Akili / EndeavorRx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Pediatric ADHD DTx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51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 indication; collapsed post-IPO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937760"/>
            <a:ext cx="10972800" cy="1371600"/>
          </a:xfrm>
          <a:prstGeom prst="rect">
            <a:avLst/>
          </a:prstGeom>
          <a:solidFill>
            <a:srgbClr val="0D1117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5029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MOAT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22960" y="5394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23-patent IP portfolio architecturally blocks competitors from dementia-safe assessment. Production platform 18-24 months ahead of ground-zero competitor builds. FDA SaMD documentation unusually mature for stage.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  ·  GENTLE REMINDER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Pre-seed signals.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74904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377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⚖️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554480" y="23774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554480" y="2971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USPTO provisional patents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IP portfolio filed or in flight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16552" y="2194560"/>
            <a:ext cx="374904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2377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💾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422392" y="23774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53K+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422392" y="2971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production code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99432" y="33832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deployed applications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84464" y="2194560"/>
            <a:ext cx="374904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21624" y="2377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🌍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9290304" y="23774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9290304" y="2971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supported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67344" y="33832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RTL-aware, ready for international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297680"/>
            <a:ext cx="374904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480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📋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1554480" y="44805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554480" y="5074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SaMD + IRB documents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54864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62304, ISO 14971, QMS, Part 11, STRIDE, IRB package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16552" y="4297680"/>
            <a:ext cx="374904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53712" y="4480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🏥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5422392" y="44805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3-5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5422392" y="5074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memory centers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99432" y="54864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UCSF, MGH, Emory partnership prep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284464" y="4297680"/>
            <a:ext cx="374904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21624" y="4480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💰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9290304" y="44805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9290304" y="5074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Non-dilutive grants drafted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467344" y="54864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NIA SBIR, R21, BrightFocus, Alz Assoc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  ·  GENTLE REMINDER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37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Experienced founding team.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743200" cy="21945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2286000"/>
            <a:ext cx="914400" cy="91440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2286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Christo Mack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CEO/COO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47288" y="2103120"/>
            <a:ext cx="2743200" cy="21945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61688" y="2286000"/>
            <a:ext cx="914400" cy="91440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61688" y="2286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LK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538728" y="3291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Leo Kinsman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38728" y="36576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45936" y="2103120"/>
            <a:ext cx="2743200" cy="21945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60336" y="2286000"/>
            <a:ext cx="914400" cy="914400"/>
          </a:xfrm>
          <a:prstGeom prst="ellipse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60336" y="2286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437376" y="3291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 Hamel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37376" y="36576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244584" y="2103120"/>
            <a:ext cx="2743200" cy="21945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58984" y="2286000"/>
            <a:ext cx="914400" cy="914400"/>
          </a:xfrm>
          <a:prstGeom prst="ellipse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58984" y="2286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JP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336024" y="3291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Jayla Patzer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336024" y="36576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Nat. Dir., Clinic &amp; Provider Partnerships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 BOARD — RECRUITING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5029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Clinical: </a:t>
            </a:r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Bruce Miller (UCSF), Reisa Sperling (Harvard), Ronald Petersen (Mayo), Constantine Lyketsos (JHU) · </a:t>
            </a:r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Tech/AI: </a:t>
            </a:r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 Topol (Scripps), Glen Tullman (Livongo), Atul Butte (UCSF) · </a:t>
            </a:r>
            <a:pPr indent="0" marL="0">
              <a:buNone/>
            </a:pPr>
            <a:r>
              <a:rPr lang="en-US" sz="12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Regulatory: </a:t>
            </a:r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FDA CDRH reviewer (SaMD expert)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  ·  GENTLE REMINDER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9144000" cy="9144000"/>
          </a:xfrm>
          <a:prstGeom prst="ellipse">
            <a:avLst/>
          </a:prstGeom>
          <a:solidFill>
            <a:srgbClr val="58A6FF">
              <a:alpha val="12000"/>
            </a:srgbClr>
          </a:solidFill>
          <a:ln w="12700">
            <a:solidFill>
              <a:srgbClr val="58A6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9144000" cy="9144000"/>
          </a:xfrm>
          <a:prstGeom prst="ellipse">
            <a:avLst/>
          </a:prstGeom>
          <a:solidFill>
            <a:srgbClr val="3FB950">
              <a:alpha val="8000"/>
            </a:srgbClr>
          </a:solidFill>
          <a:ln w="12700">
            <a:solidFill>
              <a:srgbClr val="3FB95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raising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spc="-600" kern="0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$5M</a:t>
            </a:r>
            <a:endParaRPr lang="en-US" sz="20000" dirty="0"/>
          </a:p>
        </p:txBody>
      </p:sp>
      <p:sp>
        <p:nvSpPr>
          <p:cNvPr id="7" name="Text 5"/>
          <p:cNvSpPr/>
          <p:nvPr/>
        </p:nvSpPr>
        <p:spPr>
          <a:xfrm>
            <a:off x="548640" y="43891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Round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$25M post-money  ·  20% dilution  ·  12-month runway to Series 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5577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FDA 510(k), 3 facility pilots, engineering build-out, non-provisional patent conversions.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  ·  GENTLE REMINDER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dollar allocated.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11064240" cy="438912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94560"/>
            <a:ext cx="109728" cy="43891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9456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510(k) preparation + clinical validation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95360" y="219456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$1.27M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698480" y="2194560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697480"/>
            <a:ext cx="11064240" cy="438912"/>
          </a:xfrm>
          <a:prstGeom prst="rect">
            <a:avLst/>
          </a:prstGeom>
          <a:solidFill>
            <a:srgbClr val="0A0E1A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697480"/>
            <a:ext cx="109728" cy="43891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69748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team (6 FTE × 12 months)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95360" y="269748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$1.42M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698480" y="2697480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11064240" cy="438912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200400"/>
            <a:ext cx="109728" cy="43891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20040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deployments (3 facilities)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95360" y="320040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$600K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698480" y="3200400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11064240" cy="438912"/>
          </a:xfrm>
          <a:prstGeom prst="rect">
            <a:avLst/>
          </a:prstGeom>
          <a:solidFill>
            <a:srgbClr val="0A0E1A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703320"/>
            <a:ext cx="109728" cy="438912"/>
          </a:xfrm>
          <a:prstGeom prst="rect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370332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portfolio (non-provisional conversions)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595360" y="370332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$600K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698480" y="3703320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206240"/>
            <a:ext cx="11064240" cy="438912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206240"/>
            <a:ext cx="109728" cy="438912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420624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partnerships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595360" y="420624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$450K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698480" y="4206240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4709160"/>
            <a:ext cx="11064240" cy="438912"/>
          </a:xfrm>
          <a:prstGeom prst="rect">
            <a:avLst/>
          </a:prstGeom>
          <a:solidFill>
            <a:srgbClr val="0A0E1A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4709160"/>
            <a:ext cx="109728" cy="438912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470916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+ reserve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595360" y="470916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$410K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698480" y="4709160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5212080"/>
            <a:ext cx="11064240" cy="438912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5212080"/>
            <a:ext cx="109728" cy="438912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" y="521208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validation supplies + travel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595360" y="521208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$250K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698480" y="5212080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  ·  GENTLE REMINDER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MILESTONES · CONTACT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build this together.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MILESTONES (POST-CLOSE)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2651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close; FDA Pre-Sub meeting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6400800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1546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3154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deployments live; SBIR Phase I submitted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566160"/>
            <a:ext cx="6400800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6576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M9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3657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validation data released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069080"/>
            <a:ext cx="6400800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1605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M12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4160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510(k) submission; Series A prep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6400800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663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M18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4663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510(k) clearance; Medicare reimbursement application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074920"/>
            <a:ext cx="6400800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1663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M24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5166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launch; Series A close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5577840"/>
            <a:ext cx="6400800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89520" y="2194560"/>
            <a:ext cx="4114800" cy="4114800"/>
          </a:xfrm>
          <a:prstGeom prst="rect">
            <a:avLst/>
          </a:prstGeom>
          <a:solidFill>
            <a:srgbClr val="0D1117"/>
          </a:solidFill>
          <a:ln w="25400">
            <a:solidFill>
              <a:srgbClr val="58A6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0" y="2377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0" y="28346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Christo Mack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772400" y="3337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CEO/COO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72400" y="393192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mack@matrixadvancedsolutions.com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https://www.linkedin.com/in/christomac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site: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gentle-reminder-pitch.vercel.app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772400" y="5852160"/>
            <a:ext cx="3749040" cy="365760"/>
          </a:xfrm>
          <a:prstGeom prst="rect">
            <a:avLst/>
          </a:prstGeom>
          <a:solidFill>
            <a:srgbClr val="3FB950">
              <a:alpha val="20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0" y="5852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 room available under NDA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  ·  GENTLE REMINDER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Gentle Reminder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Gentle Reminder — Seed Pitch</dc:title>
  <dc:subject>Clinical-grade dementia care platform seed round</dc:subject>
  <dc:creator>Christo Mack</dc:creator>
  <cp:lastModifiedBy>Christo Mack</cp:lastModifiedBy>
  <cp:revision>1</cp:revision>
  <dcterms:created xsi:type="dcterms:W3CDTF">2026-04-21T03:53:26Z</dcterms:created>
  <dcterms:modified xsi:type="dcterms:W3CDTF">2026-04-21T03:53:26Z</dcterms:modified>
</cp:coreProperties>
</file>