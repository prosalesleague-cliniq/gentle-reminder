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0" y="-2743200"/>
            <a:ext cx="9144000" cy="9144000"/>
          </a:xfrm>
          <a:prstGeom prst="ellipse">
            <a:avLst/>
          </a:prstGeom>
          <a:solidFill>
            <a:srgbClr val="58A6FF">
              <a:alpha val="15000"/>
            </a:srgbClr>
          </a:solidFill>
          <a:ln w="12700">
            <a:solidFill>
              <a:srgbClr val="58A6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2743200"/>
            <a:ext cx="9144000" cy="9144000"/>
          </a:xfrm>
          <a:prstGeom prst="ellipse">
            <a:avLst/>
          </a:prstGeom>
          <a:solidFill>
            <a:srgbClr val="3FB950">
              <a:alpha val="10000"/>
            </a:srgbClr>
          </a:solidFill>
          <a:ln w="12700">
            <a:solidFill>
              <a:srgbClr val="3FB95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9144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800" kern="0" dirty="0">
                <a:solidFill>
                  <a:srgbClr val="58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 PITCH  ·  CONFIDENTIAL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972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spc="-200" kern="0" dirty="0">
                <a:solidFill>
                  <a:srgbClr val="F0F6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Gentle Reminder</a:t>
            </a:r>
            <a:endParaRPr lang="en-US" sz="80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clinical-grade dementia care platform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731520" y="38404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patented innovations  ·  $186B market  ·  FDA SaMD pathway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731520" y="5029200"/>
            <a:ext cx="10515600" cy="1280160"/>
          </a:xfrm>
          <a:prstGeom prst="rect">
            <a:avLst/>
          </a:prstGeom>
          <a:solidFill>
            <a:srgbClr val="161B22">
              <a:alpha val="80000"/>
            </a:srgbClr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512064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Christo Mac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&amp; CEO/COO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mack@matrixadvancedsolutions.com  ·  https://gentle-reminder-pitch.vercel.app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65760" y="64922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16  ·  GENTLE REMINDER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F851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spc="-100" kern="0" dirty="0">
                <a:solidFill>
                  <a:srgbClr val="F0F6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Dementia care is broken.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5029200" cy="3657600"/>
          </a:xfrm>
          <a:prstGeom prst="rect">
            <a:avLst/>
          </a:prstGeom>
          <a:solidFill>
            <a:srgbClr val="0D1117"/>
          </a:solidFill>
          <a:ln w="25400">
            <a:solidFill>
              <a:srgbClr val="F8514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560320"/>
            <a:ext cx="46634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0" b="1" spc="-300" kern="0" dirty="0">
                <a:solidFill>
                  <a:srgbClr val="F8514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55M+</a:t>
            </a:r>
            <a:endParaRPr lang="en-US" sz="10000" dirty="0"/>
          </a:p>
        </p:txBody>
      </p:sp>
      <p:sp>
        <p:nvSpPr>
          <p:cNvPr id="6" name="Text 4"/>
          <p:cNvSpPr/>
          <p:nvPr/>
        </p:nvSpPr>
        <p:spPr>
          <a:xfrm>
            <a:off x="731520" y="411480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with dementia globally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4663440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10M new cases / year  ·  $1.3T annual cost  ·  zero curative therapy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943600" y="228600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 compounds: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0" y="2743200"/>
            <a:ext cx="57607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cognitive tests (MMSE, MoCA, ADAS-Cog) produce pass/fail feedback that triggers documented anxiety, agitation, and session abandonment in dementia patients.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Caregivers lack real-time digital biomarkers for decline detection.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Clinicians lack longitudinal decline-tracking tools that scale.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 trials (Leqembi, Kisunla) lack scalable digital endpoints for anti-amyloid therapy.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dementia-safe alternative exists. Digital competitors replicate the pass/fail paradigm.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0" y="6812280"/>
            <a:ext cx="12161520" cy="45720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64922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16  ·  GENTLE REMINDER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spc="-100" kern="0" dirty="0">
                <a:solidFill>
                  <a:srgbClr val="F0F6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Built from the algorithm up — for dementia.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3749040" cy="4114800"/>
          </a:xfrm>
          <a:prstGeom prst="rect">
            <a:avLst/>
          </a:prstGeom>
          <a:solidFill>
            <a:srgbClr val="0D1117"/>
          </a:solidFill>
          <a:ln w="25400">
            <a:solidFill>
              <a:srgbClr val="58A6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2103120"/>
            <a:ext cx="3749040" cy="91440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46888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58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THREE-STATE FEEDBACK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3200400"/>
            <a:ext cx="3200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CELEBRATED / GUIDED / SUPPORTED — never negative. Architecturally guarantees no failure reaches the patient.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16552" y="2103120"/>
            <a:ext cx="3749040" cy="4114800"/>
          </a:xfrm>
          <a:prstGeom prst="rect">
            <a:avLst/>
          </a:prstGeom>
          <a:solidFill>
            <a:srgbClr val="0D1117"/>
          </a:solidFill>
          <a:ln w="25400">
            <a:solidFill>
              <a:srgbClr val="3FB95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416552" y="2103120"/>
            <a:ext cx="3749040" cy="91440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90872" y="246888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BIOMARKERS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690872" y="3200400"/>
            <a:ext cx="3200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 hesitation, response time, sleep irregularity, routine disruption, medication adherence. Composite score for decline tracking.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284464" y="2103120"/>
            <a:ext cx="3749040" cy="4114800"/>
          </a:xfrm>
          <a:prstGeom prst="rect">
            <a:avLst/>
          </a:prstGeom>
          <a:solidFill>
            <a:srgbClr val="0D1117"/>
          </a:solidFill>
          <a:ln w="25400">
            <a:solidFill>
              <a:srgbClr val="A371F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84464" y="2103120"/>
            <a:ext cx="3749040" cy="91440"/>
          </a:xfrm>
          <a:prstGeom prst="rect">
            <a:avLst/>
          </a:prstGeom>
          <a:solidFill>
            <a:srgbClr val="A371F7"/>
          </a:solidFill>
          <a:ln w="12700">
            <a:solidFill>
              <a:srgbClr val="A371F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58784" y="246888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A371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FDA SaMD READY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558784" y="3200400"/>
            <a:ext cx="3200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documentation (IEC 62304, ISO 14971, QMS, CFR Part 11). 510(k) predicate identified. Medicare reimbursement pathway.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0" y="6812280"/>
            <a:ext cx="12161520" cy="45720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64922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16  ·  GENTLE REMINDER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58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PRODUCT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spc="-100" kern="0" dirty="0">
                <a:solidFill>
                  <a:srgbClr val="F0F6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Production-ready platform.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3657600" cy="137160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24028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58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53K+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31520" y="30175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of production code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416552" y="2103120"/>
            <a:ext cx="3657600" cy="137160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99432" y="224028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58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4599432" y="30175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applications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284464" y="2103120"/>
            <a:ext cx="3657600" cy="137160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67344" y="224028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58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30+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8467344" y="30175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routes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3749040"/>
            <a:ext cx="3657600" cy="137160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388620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58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30+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731520" y="46634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models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416552" y="3749040"/>
            <a:ext cx="3657600" cy="137160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99432" y="388620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58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4599432" y="46634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 (RTL-aware)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284464" y="3749040"/>
            <a:ext cx="3657600" cy="137160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67344" y="388620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58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FHIR R4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8467344" y="46634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EHR integration ready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8640" y="56692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apps: iPad patient app, caregiver dashboard, clinician dashboard, admin portal, family dashboard. Apple Watch with HealthKit. FHIR R4. Multi-tenant. 10 languages with RTL. 95+ test files. Full FDA SaMD documentation.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0" y="6812280"/>
            <a:ext cx="12161520" cy="45720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64922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16  ·  GENTLE REMINDER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D299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spc="-100" kern="0" dirty="0">
                <a:solidFill>
                  <a:srgbClr val="F0F6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$186B global market.  $450M 5-year SOM.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3749040" cy="4114800"/>
          </a:xfrm>
          <a:prstGeom prst="rect">
            <a:avLst/>
          </a:prstGeom>
          <a:solidFill>
            <a:srgbClr val="0D1117"/>
          </a:solidFill>
          <a:ln w="25400">
            <a:solidFill>
              <a:srgbClr val="58A6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46888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0" b="1" spc="-300" kern="0" dirty="0">
                <a:solidFill>
                  <a:srgbClr val="58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$186B</a:t>
            </a:r>
            <a:endParaRPr lang="en-US" sz="7000" dirty="0"/>
          </a:p>
        </p:txBody>
      </p:sp>
      <p:sp>
        <p:nvSpPr>
          <p:cNvPr id="6" name="Text 4"/>
          <p:cNvSpPr/>
          <p:nvPr/>
        </p:nvSpPr>
        <p:spPr>
          <a:xfrm>
            <a:off x="822960" y="393192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4480560"/>
            <a:ext cx="32004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dementia care market (Alzheimer's Disease International, 2023). 55M+ patients, $1.3T in total costs.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416552" y="2194560"/>
            <a:ext cx="3749040" cy="4114800"/>
          </a:xfrm>
          <a:prstGeom prst="rect">
            <a:avLst/>
          </a:prstGeom>
          <a:solidFill>
            <a:srgbClr val="0D1117"/>
          </a:solidFill>
          <a:ln w="25400">
            <a:solidFill>
              <a:srgbClr val="3FB9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90872" y="246888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0" b="1" spc="-300" kern="0" dirty="0">
                <a:solidFill>
                  <a:srgbClr val="3FB95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$23B</a:t>
            </a:r>
            <a:endParaRPr lang="en-US" sz="7000" dirty="0"/>
          </a:p>
        </p:txBody>
      </p:sp>
      <p:sp>
        <p:nvSpPr>
          <p:cNvPr id="10" name="Text 8"/>
          <p:cNvSpPr/>
          <p:nvPr/>
        </p:nvSpPr>
        <p:spPr>
          <a:xfrm>
            <a:off x="4690872" y="393192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90872" y="4480560"/>
            <a:ext cx="32004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digital therapeutics + digital health addressable segment. 26% CAGR.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284464" y="2194560"/>
            <a:ext cx="3749040" cy="4114800"/>
          </a:xfrm>
          <a:prstGeom prst="rect">
            <a:avLst/>
          </a:prstGeom>
          <a:solidFill>
            <a:srgbClr val="0D1117"/>
          </a:solidFill>
          <a:ln w="25400">
            <a:solidFill>
              <a:srgbClr val="D2992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58784" y="246888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0" b="1" spc="-300" kern="0" dirty="0">
                <a:solidFill>
                  <a:srgbClr val="D299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$450M</a:t>
            </a:r>
            <a:endParaRPr lang="en-US" sz="7000" dirty="0"/>
          </a:p>
        </p:txBody>
      </p:sp>
      <p:sp>
        <p:nvSpPr>
          <p:cNvPr id="14" name="Text 12"/>
          <p:cNvSpPr/>
          <p:nvPr/>
        </p:nvSpPr>
        <p:spPr>
          <a:xfrm>
            <a:off x="8558784" y="393192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558784" y="4480560"/>
            <a:ext cx="32004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memory care facilities + DTx prescription + MA contracts, 5-year obtainable.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0" y="6812280"/>
            <a:ext cx="12161520" cy="45720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64922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16  ·  GENTLE REMINDER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A371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 MOAT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spc="-100" kern="0" dirty="0">
                <a:solidFill>
                  <a:srgbClr val="F0F6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23 patent-pending innovations.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1783080" cy="1828800"/>
          </a:xfrm>
          <a:prstGeom prst="rect">
            <a:avLst/>
          </a:prstGeom>
          <a:solidFill>
            <a:srgbClr val="0D1117"/>
          </a:solidFill>
          <a:ln w="25400">
            <a:solidFill>
              <a:srgbClr val="F8514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286000"/>
            <a:ext cx="1783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8514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548640" y="32918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365760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Foundational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14600" y="2194560"/>
            <a:ext cx="1783080" cy="1828800"/>
          </a:xfrm>
          <a:prstGeom prst="rect">
            <a:avLst/>
          </a:prstGeom>
          <a:solidFill>
            <a:srgbClr val="0D1117"/>
          </a:solidFill>
          <a:ln w="25400">
            <a:solidFill>
              <a:srgbClr val="D2992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14600" y="2286000"/>
            <a:ext cx="1783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D299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</a:t>
            </a:r>
            <a:endParaRPr lang="en-US" sz="5600" dirty="0"/>
          </a:p>
        </p:txBody>
      </p:sp>
      <p:sp>
        <p:nvSpPr>
          <p:cNvPr id="10" name="Text 8"/>
          <p:cNvSpPr/>
          <p:nvPr/>
        </p:nvSpPr>
        <p:spPr>
          <a:xfrm>
            <a:off x="2514600" y="32918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514600" y="365760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claims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480560" y="2194560"/>
            <a:ext cx="1783080" cy="1828800"/>
          </a:xfrm>
          <a:prstGeom prst="rect">
            <a:avLst/>
          </a:prstGeom>
          <a:solidFill>
            <a:srgbClr val="0D1117"/>
          </a:solidFill>
          <a:ln w="25400">
            <a:solidFill>
              <a:srgbClr val="58A6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80560" y="2286000"/>
            <a:ext cx="1783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58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11</a:t>
            </a:r>
            <a:endParaRPr lang="en-US" sz="5600" dirty="0"/>
          </a:p>
        </p:txBody>
      </p:sp>
      <p:sp>
        <p:nvSpPr>
          <p:cNvPr id="14" name="Text 12"/>
          <p:cNvSpPr/>
          <p:nvPr/>
        </p:nvSpPr>
        <p:spPr>
          <a:xfrm>
            <a:off x="4480560" y="32918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480560" y="365760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System-level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583680" y="21945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1 HIGHLIGHTS: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83680" y="2651760"/>
            <a:ext cx="50292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GR-01: Three-state positive-only feedback — the only architectural dementia-safe scoring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GR-02: Asymmetric adaptive difficulty (70-85% comfort zone)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GR-03: Dementia-adapted SM-2 spaced repetition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GR-04: Multimodal cognitive state classifier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GR-05: Dementia-specific speech emotion detection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4754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Portfolio valuation: $22M–$57M (sum-of-parts, pre-seed)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" y="52120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USPTO provisionals in flight · 12-month priority window · Trade-secret parameters retained separately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0" y="6812280"/>
            <a:ext cx="12161520" cy="45720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64922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16  ·  GENTLE REMINDER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REGULATORY PATHWAY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spc="-100" kern="0" dirty="0">
                <a:solidFill>
                  <a:srgbClr val="F0F6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FDA SaMD Class II via 510(k).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8B949E"/>
                </a:solidFill>
              </a:rPr>
              <a:t>DOCUMENTATION STATUS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2651760"/>
            <a:ext cx="5669280" cy="365760"/>
          </a:xfrm>
          <a:prstGeom prst="rect">
            <a:avLst/>
          </a:prstGeom>
          <a:solidFill>
            <a:srgbClr val="0D1117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265176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IEC 62304 Software Lifecycle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663440" y="26517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3063240"/>
            <a:ext cx="5669280" cy="365760"/>
          </a:xfrm>
          <a:prstGeom prst="rect">
            <a:avLst/>
          </a:prstGeom>
          <a:solidFill>
            <a:srgbClr val="0A0E1A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06324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14971 Risk Management (FMEA)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663440" y="30632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3474720"/>
            <a:ext cx="5669280" cy="365760"/>
          </a:xfrm>
          <a:prstGeom prst="rect">
            <a:avLst/>
          </a:prstGeom>
          <a:solidFill>
            <a:srgbClr val="0D1117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347472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13485 QMS Framework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663440" y="34747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886200"/>
            <a:ext cx="5669280" cy="365760"/>
          </a:xfrm>
          <a:prstGeom prst="rect">
            <a:avLst/>
          </a:prstGeom>
          <a:solidFill>
            <a:srgbClr val="0A0E1A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8862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CFR Part 11 Electronic Records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663440" y="388620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4297680"/>
            <a:ext cx="5669280" cy="365760"/>
          </a:xfrm>
          <a:prstGeom prst="rect">
            <a:avLst/>
          </a:prstGeom>
          <a:solidFill>
            <a:srgbClr val="0D1117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429768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STRIDE Cybersecurity Assessment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663440" y="429768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4709160"/>
            <a:ext cx="5669280" cy="365760"/>
          </a:xfrm>
          <a:prstGeom prst="rect">
            <a:avLst/>
          </a:prstGeom>
          <a:solidFill>
            <a:srgbClr val="0A0E1A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470916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 Transparency Module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663440" y="47091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5120640"/>
            <a:ext cx="5669280" cy="365760"/>
          </a:xfrm>
          <a:prstGeom prst="rect">
            <a:avLst/>
          </a:prstGeom>
          <a:solidFill>
            <a:srgbClr val="0D1117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1520" y="512064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Validation Protocol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663440" y="51206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Drafted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48640" y="5532120"/>
            <a:ext cx="5669280" cy="365760"/>
          </a:xfrm>
          <a:prstGeom prst="rect">
            <a:avLst/>
          </a:prstGeom>
          <a:solidFill>
            <a:srgbClr val="0A0E1A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1520" y="553212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510(k) Predicate Analysis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663440" y="55321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K201738 Linus Health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766560" y="21945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8B949E"/>
                </a:solidFill>
              </a:rPr>
              <a:t>PREDICATE PATH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766560" y="2651760"/>
            <a:ext cx="5029200" cy="914400"/>
          </a:xfrm>
          <a:prstGeom prst="rect">
            <a:avLst/>
          </a:prstGeom>
          <a:solidFill>
            <a:srgbClr val="0D1117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49440" y="2743200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K201738 — Linus Health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Clock and Recall; cleared 2020. Substantial equivalence basis for our 510(k).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766560" y="3657600"/>
            <a:ext cx="5029200" cy="914400"/>
          </a:xfrm>
          <a:prstGeom prst="rect">
            <a:avLst/>
          </a:prstGeom>
          <a:solidFill>
            <a:srgbClr val="0D1117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949440" y="3749040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K182554 — Cogstate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 computerized cognitive assessment. Secondary predicate.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766560" y="475488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</a:t>
            </a:r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510(k) submission within 12 months of seed close.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Clearance timeline:</a:t>
            </a:r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12-18 months from submission (P50 ~15 months).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0" y="6812280"/>
            <a:ext cx="12161520" cy="45720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5760" y="64922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16  ·  GENTLE REMINDER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MODEL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spc="-100" kern="0" dirty="0">
                <a:solidFill>
                  <a:srgbClr val="F0F6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Multi-channel revenue. Defensible economics.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5486400" cy="1920240"/>
          </a:xfrm>
          <a:prstGeom prst="rect">
            <a:avLst/>
          </a:prstGeom>
          <a:solidFill>
            <a:srgbClr val="161B22"/>
          </a:solidFill>
          <a:ln w="25400">
            <a:solidFill>
              <a:srgbClr val="58A6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3317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58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B2B FACILITY SAAS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2697480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0F6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$6,000 / bed / year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731520" y="3291840"/>
            <a:ext cx="51206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30,000+ US memory care facilities. Patient app + caregiver dashboard + clinical reporting. Annual contracts with 5% escalation.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2194560"/>
            <a:ext cx="5486400" cy="1920240"/>
          </a:xfrm>
          <a:prstGeom prst="rect">
            <a:avLst/>
          </a:prstGeom>
          <a:solidFill>
            <a:srgbClr val="161B22"/>
          </a:solidFill>
          <a:ln w="25400">
            <a:solidFill>
              <a:srgbClr val="3FB9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0" y="23317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B2B2C DTx (POST-510K)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0" y="2697480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0F6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$180 / patient / month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6400800" y="3291840"/>
            <a:ext cx="51206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Provider-prescribed DTx. CPT-code reimbursable. Medicare + Medicare Advantage coverage target.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297680"/>
            <a:ext cx="5486400" cy="1920240"/>
          </a:xfrm>
          <a:prstGeom prst="rect">
            <a:avLst/>
          </a:prstGeom>
          <a:solidFill>
            <a:srgbClr val="161B22"/>
          </a:solidFill>
          <a:ln w="25400">
            <a:solidFill>
              <a:srgbClr val="D2992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43484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299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PHARMA LICENSING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4800600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0F6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$2M-$10M / deal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731520" y="5394960"/>
            <a:ext cx="51206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endpoint for anti-amyloid therapy trials (Biogen, Eisai, Lilly). Upfront + milestones + royalties.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17920" y="4297680"/>
            <a:ext cx="5486400" cy="1920240"/>
          </a:xfrm>
          <a:prstGeom prst="rect">
            <a:avLst/>
          </a:prstGeom>
          <a:solidFill>
            <a:srgbClr val="161B22"/>
          </a:solidFill>
          <a:ln w="25400">
            <a:solidFill>
              <a:srgbClr val="A371F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0" y="443484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A371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PAYER VALUE-BASED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0" y="4800600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0F6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Per-member outcomes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6400800" y="5394960"/>
            <a:ext cx="51206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Medicare Advantage risk stratification. Cost-reduction sharing on early intervention.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0" y="6812280"/>
            <a:ext cx="12161520" cy="45720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64922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16  ·  GENTLE REMINDER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spc="-100" kern="0" dirty="0">
                <a:solidFill>
                  <a:srgbClr val="F0F6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Path to $85M ARR in Year 5.</a:t>
            </a:r>
            <a:endParaRPr lang="en-US" sz="4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86000"/>
          <a:ext cx="109728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755648"/>
                <a:gridCol w="1755648"/>
                <a:gridCol w="1755648"/>
                <a:gridCol w="1755648"/>
                <a:gridCol w="175564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8B949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8B949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8B949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8B949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8B949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9D1D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Facilities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C9D1D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C9D1D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C9D1D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C9D1D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C9D1D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9D1D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C9D1D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C9D1D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2,560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C9D1D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C9D1D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22,400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C9D1D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46,400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0F6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b="1" dirty="0">
                          <a:solidFill>
                            <a:srgbClr val="3FB9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$500K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b="1" dirty="0">
                          <a:solidFill>
                            <a:srgbClr val="3FB9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$3.8M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b="1" dirty="0">
                          <a:solidFill>
                            <a:srgbClr val="3FB9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$14M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b="1" dirty="0">
                          <a:solidFill>
                            <a:srgbClr val="3FB9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$38M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b="1" dirty="0">
                          <a:solidFill>
                            <a:srgbClr val="3FB9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$85M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029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Y3+ includes DTx prescription revenue (post-510k clearance).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Excludes potential $10M-$50M strategic pharma licensing deals.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0" y="6812280"/>
            <a:ext cx="12161520" cy="45720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65760" y="64922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16  ·  GENTLE REMINDER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58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ECONOMICS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spc="-100" kern="0" dirty="0">
                <a:solidFill>
                  <a:srgbClr val="F0F6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LTV/CAC of 60×. Top-quartile.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3749040" cy="192024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237744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ACV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77240" y="274320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58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$60,000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777240" y="37033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beds × $6K/year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416552" y="2194560"/>
            <a:ext cx="3749040" cy="192024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45152" y="237744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 (Facility)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645152" y="274320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58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$3,000</a:t>
            </a:r>
            <a:endParaRPr lang="en-US" sz="5000" dirty="0"/>
          </a:p>
        </p:txBody>
      </p:sp>
      <p:sp>
        <p:nvSpPr>
          <p:cNvPr id="11" name="Text 9"/>
          <p:cNvSpPr/>
          <p:nvPr/>
        </p:nvSpPr>
        <p:spPr>
          <a:xfrm>
            <a:off x="4645152" y="37033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sales + pilot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284464" y="2194560"/>
            <a:ext cx="3749040" cy="192024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13064" y="237744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(Facility)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513064" y="274320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58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$180,000</a:t>
            </a:r>
            <a:endParaRPr lang="en-US" sz="5000" dirty="0"/>
          </a:p>
        </p:txBody>
      </p:sp>
      <p:sp>
        <p:nvSpPr>
          <p:cNvPr id="15" name="Text 13"/>
          <p:cNvSpPr/>
          <p:nvPr/>
        </p:nvSpPr>
        <p:spPr>
          <a:xfrm>
            <a:off x="8513064" y="37033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37.5-month lifetime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4297680"/>
            <a:ext cx="3749040" cy="192024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44805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/ CAC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77240" y="484632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58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60×</a:t>
            </a:r>
            <a:endParaRPr lang="en-US" sz="5000" dirty="0"/>
          </a:p>
        </p:txBody>
      </p:sp>
      <p:sp>
        <p:nvSpPr>
          <p:cNvPr id="19" name="Text 17"/>
          <p:cNvSpPr/>
          <p:nvPr/>
        </p:nvSpPr>
        <p:spPr>
          <a:xfrm>
            <a:off x="777240" y="58064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Top-quartile SaaS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416552" y="4297680"/>
            <a:ext cx="3749040" cy="192024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45152" y="44805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645152" y="484632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58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82%</a:t>
            </a:r>
            <a:endParaRPr lang="en-US" sz="5000" dirty="0"/>
          </a:p>
        </p:txBody>
      </p:sp>
      <p:sp>
        <p:nvSpPr>
          <p:cNvPr id="23" name="Text 21"/>
          <p:cNvSpPr/>
          <p:nvPr/>
        </p:nvSpPr>
        <p:spPr>
          <a:xfrm>
            <a:off x="4645152" y="58064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SaaS + support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284464" y="4297680"/>
            <a:ext cx="3749040" cy="192024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513064" y="44805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Churn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513064" y="484632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58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8%</a:t>
            </a:r>
            <a:endParaRPr lang="en-US" sz="5000" dirty="0"/>
          </a:p>
        </p:txBody>
      </p:sp>
      <p:sp>
        <p:nvSpPr>
          <p:cNvPr id="27" name="Text 25"/>
          <p:cNvSpPr/>
          <p:nvPr/>
        </p:nvSpPr>
        <p:spPr>
          <a:xfrm>
            <a:off x="8513064" y="58064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10-15% benchmark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0" y="6812280"/>
            <a:ext cx="12161520" cy="45720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64922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16  ·  GENTLE REMINDER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D299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LANDSCAPE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spc="-100" kern="0" dirty="0">
                <a:solidFill>
                  <a:srgbClr val="F0F6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Nobody else has built this for dementia.</a:t>
            </a:r>
            <a:endParaRPr lang="en-US" sz="4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94560"/>
          <a:ext cx="109728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14800"/>
                <a:gridCol w="41148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B949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Company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B949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Focus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8B949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they lose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0F6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Linus Health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9D1D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Digital cognitive assessment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851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Pass/fail delivery; not dementia-safe UX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0F6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Cogstate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9D1D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Computerized cognitive testing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851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Trial-only; no caregiver platform or biomarkers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0F6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Neurotrack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9D1D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Eye-tracking cognitive assessment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851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Narrow modality (eye-tracking only)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0F6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Akili / EndeavorRx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9D1D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Pediatric ADHD DTx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851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Different indication; collapsed post-IPO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E1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937760"/>
            <a:ext cx="10972800" cy="1371600"/>
          </a:xfrm>
          <a:prstGeom prst="rect">
            <a:avLst/>
          </a:prstGeom>
          <a:solidFill>
            <a:srgbClr val="0D1117"/>
          </a:solidFill>
          <a:ln w="25400">
            <a:solidFill>
              <a:srgbClr val="3FB95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5029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MOAT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22960" y="53949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23-patent IP portfolio architecturally blocks competitors from dementia-safe assessment. Production platform 18-24 months ahead of ground-zero competitor builds. FDA SaMD documentation unusually mature for stage.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0" y="6812280"/>
            <a:ext cx="12161520" cy="45720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65760" y="64922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16  ·  GENTLE REMINDER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58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spc="-100" kern="0" dirty="0">
                <a:solidFill>
                  <a:srgbClr val="F0F6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Pre-seed signals.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3749040" cy="192024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3774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⚖️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554480" y="237744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8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23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554480" y="2971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USPTO provisional patents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338328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IP portfolio filed or in flight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416552" y="2194560"/>
            <a:ext cx="3749040" cy="192024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53712" y="23774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💾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5422392" y="237744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8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53K+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5422392" y="2971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of production code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99432" y="338328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deployed applications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284464" y="2194560"/>
            <a:ext cx="3749040" cy="192024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21624" y="23774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🌍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9290304" y="237744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8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9290304" y="2971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 supported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467344" y="338328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RTL-aware, ready for international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4297680"/>
            <a:ext cx="3749040" cy="192024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448056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📋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1554480" y="448056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8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12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1554480" y="507492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 SaMD documents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31520" y="548640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IEC 62304, ISO 14971, QMS, Part 11, STRIDE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416552" y="4297680"/>
            <a:ext cx="3749040" cy="192024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53712" y="448056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🏥</a:t>
            </a:r>
            <a:endParaRPr lang="en-US" sz="3600" dirty="0"/>
          </a:p>
        </p:txBody>
      </p:sp>
      <p:sp>
        <p:nvSpPr>
          <p:cNvPr id="26" name="Text 24"/>
          <p:cNvSpPr/>
          <p:nvPr/>
        </p:nvSpPr>
        <p:spPr>
          <a:xfrm>
            <a:off x="5422392" y="448056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8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3-5</a:t>
            </a:r>
            <a:endParaRPr lang="en-US" sz="2800" dirty="0"/>
          </a:p>
        </p:txBody>
      </p:sp>
      <p:sp>
        <p:nvSpPr>
          <p:cNvPr id="27" name="Text 25"/>
          <p:cNvSpPr/>
          <p:nvPr/>
        </p:nvSpPr>
        <p:spPr>
          <a:xfrm>
            <a:off x="5422392" y="507492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memory centers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599432" y="548640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UCSF, MGH, Emory partnership prep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284464" y="4297680"/>
            <a:ext cx="3749040" cy="192024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21624" y="448056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💰</a:t>
            </a:r>
            <a:endParaRPr lang="en-US" sz="3600" dirty="0"/>
          </a:p>
        </p:txBody>
      </p:sp>
      <p:sp>
        <p:nvSpPr>
          <p:cNvPr id="31" name="Text 29"/>
          <p:cNvSpPr/>
          <p:nvPr/>
        </p:nvSpPr>
        <p:spPr>
          <a:xfrm>
            <a:off x="9290304" y="448056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8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800" dirty="0"/>
          </a:p>
        </p:txBody>
      </p:sp>
      <p:sp>
        <p:nvSpPr>
          <p:cNvPr id="32" name="Text 30"/>
          <p:cNvSpPr/>
          <p:nvPr/>
        </p:nvSpPr>
        <p:spPr>
          <a:xfrm>
            <a:off x="9290304" y="507492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Non-dilutive grants drafted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467344" y="548640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NIA SBIR, R21, BrightFocus, Alz Assoc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0" y="6812280"/>
            <a:ext cx="12161520" cy="45720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64922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16  ·  GENTLE REMINDER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A371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spc="-100" kern="0" dirty="0">
                <a:solidFill>
                  <a:srgbClr val="F0F6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Experienced founding team.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2743200" cy="219456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63040" y="2286000"/>
            <a:ext cx="914400" cy="914400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63040" y="22860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CM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32918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Christo Mac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365760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&amp; CEO/COO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447288" y="2103120"/>
            <a:ext cx="2743200" cy="219456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61688" y="2286000"/>
            <a:ext cx="914400" cy="914400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61688" y="22860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LK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538728" y="32918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Leo Kinsman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538728" y="365760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345936" y="2103120"/>
            <a:ext cx="2743200" cy="219456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260336" y="2286000"/>
            <a:ext cx="914400" cy="914400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260336" y="22860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CH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437376" y="32918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Chris Hamel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37376" y="365760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CFO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244584" y="2103120"/>
            <a:ext cx="2743200" cy="219456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158984" y="2286000"/>
            <a:ext cx="914400" cy="914400"/>
          </a:xfrm>
          <a:prstGeom prst="ellipse">
            <a:avLst/>
          </a:prstGeom>
          <a:solidFill>
            <a:srgbClr val="A371F7"/>
          </a:solidFill>
          <a:ln w="12700">
            <a:solidFill>
              <a:srgbClr val="A371F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158984" y="22860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JP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9336024" y="32918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Jayla Patzer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336024" y="365760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37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Nat. Dir., Clinic &amp; Provider Partnerships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48640" y="4572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ADVISORY BOARD — RECRUITING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502920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Clinical: </a:t>
            </a:r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Bruce Miller (UCSF), Reisa Sperling (Harvard), Ronald Petersen (Mayo), Constantine Lyketsos (JHU) · </a:t>
            </a:r>
            <a:pPr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Tech/AI: </a:t>
            </a:r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Eric Topol (Scripps), Glen Tullman (Livongo), Atul Butte (UCSF) · </a:t>
            </a:r>
            <a:pPr indent="0" marL="0">
              <a:buNone/>
            </a:pPr>
            <a:r>
              <a:rPr lang="en-US" sz="12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Regulatory: </a:t>
            </a:r>
            <a:pPr indent="0" marL="0">
              <a:buNone/>
            </a:pPr>
            <a:r>
              <a:rPr lang="en-US" sz="12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Former FDA CDRH reviewer (SaMD expert)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0" y="6812280"/>
            <a:ext cx="12161520" cy="45720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64922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16  ·  GENTLE REMINDER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0" y="-2743200"/>
            <a:ext cx="9144000" cy="9144000"/>
          </a:xfrm>
          <a:prstGeom prst="ellipse">
            <a:avLst/>
          </a:prstGeom>
          <a:solidFill>
            <a:srgbClr val="58A6FF">
              <a:alpha val="12000"/>
            </a:srgbClr>
          </a:solidFill>
          <a:ln w="12700">
            <a:solidFill>
              <a:srgbClr val="58A6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2743200"/>
            <a:ext cx="9144000" cy="9144000"/>
          </a:xfrm>
          <a:prstGeom prst="ellipse">
            <a:avLst/>
          </a:prstGeom>
          <a:solidFill>
            <a:srgbClr val="3FB950">
              <a:alpha val="8000"/>
            </a:srgbClr>
          </a:solidFill>
          <a:ln w="12700">
            <a:solidFill>
              <a:srgbClr val="3FB95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7373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We're raising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2194560"/>
            <a:ext cx="109728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0" b="1" spc="-600" kern="0" dirty="0">
                <a:solidFill>
                  <a:srgbClr val="F0F6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$5M</a:t>
            </a:r>
            <a:endParaRPr lang="en-US" sz="20000" dirty="0"/>
          </a:p>
        </p:txBody>
      </p:sp>
      <p:sp>
        <p:nvSpPr>
          <p:cNvPr id="7" name="Text 5"/>
          <p:cNvSpPr/>
          <p:nvPr/>
        </p:nvSpPr>
        <p:spPr>
          <a:xfrm>
            <a:off x="548640" y="43891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 Round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548640" y="5029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$25M post-money  ·  20% dilution  ·  12-month runway to Series A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5577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Funds FDA 510(k), 3 facility pilots, engineering build-out, non-provisional patent conversions.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65760" y="64922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16  ·  GENTLE REMINDER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D299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OF FUNDS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spc="-100" kern="0" dirty="0">
                <a:solidFill>
                  <a:srgbClr val="F0F6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Every dollar allocated.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11064240" cy="438912"/>
          </a:xfrm>
          <a:prstGeom prst="rect">
            <a:avLst/>
          </a:prstGeom>
          <a:solidFill>
            <a:srgbClr val="161B22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2194560"/>
            <a:ext cx="109728" cy="438912"/>
          </a:xfrm>
          <a:prstGeom prst="rect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94560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 510(k) preparation + clinical validation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595360" y="2194560"/>
            <a:ext cx="2011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$1.27M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698480" y="2194560"/>
            <a:ext cx="914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697480"/>
            <a:ext cx="11064240" cy="438912"/>
          </a:xfrm>
          <a:prstGeom prst="rect">
            <a:avLst/>
          </a:prstGeom>
          <a:solidFill>
            <a:srgbClr val="0A0E1A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697480"/>
            <a:ext cx="109728" cy="438912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2697480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team (6 FTE × 12 months)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595360" y="2697480"/>
            <a:ext cx="2011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$1.42M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698480" y="2697480"/>
            <a:ext cx="914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28%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200400"/>
            <a:ext cx="11064240" cy="438912"/>
          </a:xfrm>
          <a:prstGeom prst="rect">
            <a:avLst/>
          </a:prstGeom>
          <a:solidFill>
            <a:srgbClr val="161B22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200400"/>
            <a:ext cx="109728" cy="438912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3200400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deployments (3 facilities)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595360" y="3200400"/>
            <a:ext cx="2011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$600K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698480" y="3200400"/>
            <a:ext cx="914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703320"/>
            <a:ext cx="11064240" cy="438912"/>
          </a:xfrm>
          <a:prstGeom prst="rect">
            <a:avLst/>
          </a:prstGeom>
          <a:solidFill>
            <a:srgbClr val="0A0E1A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703320"/>
            <a:ext cx="109728" cy="438912"/>
          </a:xfrm>
          <a:prstGeom prst="rect">
            <a:avLst/>
          </a:prstGeom>
          <a:solidFill>
            <a:srgbClr val="A371F7"/>
          </a:solidFill>
          <a:ln w="12700">
            <a:solidFill>
              <a:srgbClr val="A371F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68680" y="3703320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 portfolio (non-provisional conversions)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595360" y="3703320"/>
            <a:ext cx="2011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$600K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0698480" y="3703320"/>
            <a:ext cx="914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206240"/>
            <a:ext cx="11064240" cy="438912"/>
          </a:xfrm>
          <a:prstGeom prst="rect">
            <a:avLst/>
          </a:prstGeom>
          <a:solidFill>
            <a:srgbClr val="161B22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48640" y="4206240"/>
            <a:ext cx="109728" cy="438912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68680" y="4206240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&amp; partnerships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595360" y="4206240"/>
            <a:ext cx="2011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$450K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0698480" y="4206240"/>
            <a:ext cx="914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9%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48640" y="4709160"/>
            <a:ext cx="11064240" cy="438912"/>
          </a:xfrm>
          <a:prstGeom prst="rect">
            <a:avLst/>
          </a:prstGeom>
          <a:solidFill>
            <a:srgbClr val="0A0E1A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8640" y="4709160"/>
            <a:ext cx="109728" cy="438912"/>
          </a:xfrm>
          <a:prstGeom prst="rect">
            <a:avLst/>
          </a:prstGeom>
          <a:solidFill>
            <a:srgbClr val="8B949E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68680" y="4709160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 + reserve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8595360" y="4709160"/>
            <a:ext cx="2011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$410K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10698480" y="4709160"/>
            <a:ext cx="914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48640" y="5212080"/>
            <a:ext cx="11064240" cy="438912"/>
          </a:xfrm>
          <a:prstGeom prst="rect">
            <a:avLst/>
          </a:prstGeom>
          <a:solidFill>
            <a:srgbClr val="161B22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48640" y="5212080"/>
            <a:ext cx="109728" cy="438912"/>
          </a:xfrm>
          <a:prstGeom prst="rect">
            <a:avLst/>
          </a:prstGeom>
          <a:solidFill>
            <a:srgbClr val="8B949E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68680" y="5212080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validation supplies + travel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8595360" y="5212080"/>
            <a:ext cx="2011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3FB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$250K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10698480" y="5212080"/>
            <a:ext cx="914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0" y="6812280"/>
            <a:ext cx="12161520" cy="45720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64922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16  ·  GENTLE REMINDER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58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MILESTONES · CONTACT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spc="-100" kern="0" dirty="0">
                <a:solidFill>
                  <a:srgbClr val="F0F6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Let's build this together.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MILESTONES (POST-CLOSE)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265176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M3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371600" y="26517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close; FDA Pre-Sub meeting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3063240"/>
            <a:ext cx="6400800" cy="0"/>
          </a:xfrm>
          <a:prstGeom prst="line">
            <a:avLst/>
          </a:prstGeom>
          <a:noFill/>
          <a:ln w="6350">
            <a:solidFill>
              <a:srgbClr val="21262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315468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M6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71600" y="31546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deployments live; SBIR Phase I submitted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3566160"/>
            <a:ext cx="6400800" cy="0"/>
          </a:xfrm>
          <a:prstGeom prst="line">
            <a:avLst/>
          </a:prstGeom>
          <a:noFill/>
          <a:ln w="6350">
            <a:solidFill>
              <a:srgbClr val="2126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365760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M9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371600" y="3657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validation data released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4069080"/>
            <a:ext cx="6400800" cy="0"/>
          </a:xfrm>
          <a:prstGeom prst="line">
            <a:avLst/>
          </a:prstGeom>
          <a:noFill/>
          <a:ln w="6350">
            <a:solidFill>
              <a:srgbClr val="21262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416052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M12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371600" y="41605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510(k) submission; Series A prep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572000"/>
            <a:ext cx="6400800" cy="0"/>
          </a:xfrm>
          <a:prstGeom prst="line">
            <a:avLst/>
          </a:prstGeom>
          <a:noFill/>
          <a:ln w="6350">
            <a:solidFill>
              <a:srgbClr val="2126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466344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M18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371600" y="46634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510(k) clearance; Medicare reimbursement application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5074920"/>
            <a:ext cx="6400800" cy="0"/>
          </a:xfrm>
          <a:prstGeom prst="line">
            <a:avLst/>
          </a:prstGeom>
          <a:noFill/>
          <a:ln w="6350">
            <a:solidFill>
              <a:srgbClr val="21262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516636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A6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M24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371600" y="51663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launch; Series A close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5577840"/>
            <a:ext cx="6400800" cy="0"/>
          </a:xfrm>
          <a:prstGeom prst="line">
            <a:avLst/>
          </a:prstGeom>
          <a:noFill/>
          <a:ln w="6350">
            <a:solidFill>
              <a:srgbClr val="21262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589520" y="2194560"/>
            <a:ext cx="4114800" cy="4114800"/>
          </a:xfrm>
          <a:prstGeom prst="rect">
            <a:avLst/>
          </a:prstGeom>
          <a:solidFill>
            <a:srgbClr val="0D1117"/>
          </a:solidFill>
          <a:ln w="25400">
            <a:solidFill>
              <a:srgbClr val="58A6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0" y="23774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772400" y="283464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F6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Christo Mac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7772400" y="333756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&amp; CEO/COO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772400" y="3931920"/>
            <a:ext cx="39319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mack@matrixadvancedsolutions.com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https://www.linkedin.com/in/christomac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site: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gentle-reminder-pitch.vercel.app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772400" y="5852160"/>
            <a:ext cx="3749040" cy="365760"/>
          </a:xfrm>
          <a:prstGeom prst="rect">
            <a:avLst/>
          </a:prstGeom>
          <a:solidFill>
            <a:srgbClr val="3FB950">
              <a:alpha val="20000"/>
            </a:srgbClr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0" y="585216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data room available under NDA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65760" y="64922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6E76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16  ·  GENTLE REMINDER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Gentle Reminder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Gentle Reminder — Seed Pitch</dc:title>
  <dc:subject>Clinical-grade dementia care platform seed round</dc:subject>
  <dc:creator>Christo Mac</dc:creator>
  <cp:lastModifiedBy>Christo Mac</cp:lastModifiedBy>
  <cp:revision>1</cp:revision>
  <dcterms:created xsi:type="dcterms:W3CDTF">2026-04-20T23:53:51Z</dcterms:created>
  <dcterms:modified xsi:type="dcterms:W3CDTF">2026-04-20T23:53:51Z</dcterms:modified>
</cp:coreProperties>
</file>